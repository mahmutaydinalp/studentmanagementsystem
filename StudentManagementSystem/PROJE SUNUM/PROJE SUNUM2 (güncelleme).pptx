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sldIdLst>
    <p:sldId id="256" r:id="rId5"/>
    <p:sldId id="257" r:id="rId6"/>
    <p:sldId id="258" r:id="rId7"/>
    <p:sldId id="259" r:id="rId8"/>
    <p:sldId id="261" r:id="rId9"/>
    <p:sldId id="262" r:id="rId10"/>
    <p:sldId id="263" r:id="rId11"/>
    <p:sldId id="264" r:id="rId12"/>
    <p:sldId id="265" r:id="rId13"/>
    <p:sldId id="266" r:id="rId14"/>
    <p:sldId id="260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 autoAdjust="0"/>
    <p:restoredTop sz="94660"/>
  </p:normalViewPr>
  <p:slideViewPr>
    <p:cSldViewPr snapToGrid="0">
      <p:cViewPr varScale="1">
        <p:scale>
          <a:sx n="84" d="100"/>
          <a:sy n="84" d="100"/>
        </p:scale>
        <p:origin x="6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342074E-F80B-D37C-61E8-74A2E1857A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42E3B3C9-79F0-01D9-D466-19B853CAD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97E2430-5FFF-CC81-DB8A-AC95F3B73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23.12.2024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A524047-F7EE-EB4E-1418-1F45B2A9C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CEEA447-A845-7F75-C1E4-E4583F710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17713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7BDB24B-5C4E-EC6A-A2E2-01DD572D5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05F78D1-FCAE-D13C-5C09-382724F07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D302DE8-C918-2A72-81B8-3F7FA90C0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23.12.2024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F4063BD-88C6-1494-F986-27D1113E3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3AC43C7-8C5E-BECE-F1ED-84A50E744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69730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E69FF43-8EA9-F88B-4DAF-EEC68F9DB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B5A8423-11D5-6D91-663A-64465030D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EC7E099-8162-26C8-FB4B-02E740CAB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23.12.2024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5B85A88-7754-8253-FA6B-3B85A9312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3BCD181-7024-EE4E-F670-20F268D62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36753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0D75EDF-E2FF-1D1A-DA5F-2F165FC92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0858502-8F8D-6562-DA7D-6457759144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C6CB684A-8C8C-480F-563B-49A734D9D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DB2BB05-0B6B-3BA9-739C-6EC95EEF9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23.12.2024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AA698AF-0C81-184E-FF69-1C669CA3E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DEFB700-831F-77A2-4980-5277811AA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77917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4A7B90C-3A06-3044-64FE-FA40A0E40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EF3E674-9345-36DD-635A-864EE6463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DC0A94B-AA5B-75FE-CF44-38AEB431DF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9D977C41-B014-CFCD-783D-7CB45FCA2F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8020DDA9-E317-67F1-5C2A-7462BE5EE3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BC59307C-8942-77C9-F1C1-F806C140B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23.12.2024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771B7E61-EE28-0C7F-1600-70F97F01E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B05D3534-3AD3-3998-130E-55A35E499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5340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EDE7E3C-C4C0-281D-AD6B-57B9A6E02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7C9DDC35-8F91-F7C4-73AF-414D09324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23.12.2024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88875BAD-58FF-A4D2-E054-1904F580A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740A854F-A55C-0099-55B6-51DFC6DB8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45346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463D65B-3A32-B337-CD33-6708EDFE5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23.12.2024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04CDF0CD-D039-92F6-4B77-260097F4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FB76741-20A1-EFF2-DC17-48875AF4B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6922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3898519-93E6-23EA-D1BF-CC0FBDA73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674ADF2-0F50-9682-DC80-727C47420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05E230EB-5E27-4535-8A54-482D6469C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D6D08A2-96AF-6975-59F5-A8B445A73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23.12.2024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C656D33-9CB0-F1F0-381C-4E9A6A083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1B30453-8F0A-E79E-4F43-0CF24F5FE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01282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4A72E58-6A04-2F02-3C30-7F486D96E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AED21E4B-FDB1-6507-E329-81F27C3C8C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78641D5-A0B3-DF7D-A543-E33678AF01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A4A25BA-2BB6-501A-64EC-E4B87DE05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23.12.2024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EB81382-B833-5FCA-2E16-E6DA1C454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2DE7BCD-5EF0-4D86-6802-D0DFAB5E8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775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BF155C6-0A31-D5A1-D1F3-6F1E6D146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CE00983B-E52B-EDC9-F94B-A84B7A7CA1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4F55300-5100-2C7B-BD95-B78924F2D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23.12.2024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0F560F2-351C-74EE-9392-5F6DECB78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EAA694E-1A3A-8934-08EB-0E4B30C66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94789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7114F566-7816-FE67-EDF3-2056F359FE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98457483-5F39-3867-98DB-F20DFC100C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F73EBCB-07F5-6924-B27D-D824D895D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23.12.2024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7CC269C-E5DC-F1EA-E077-97D1EEE54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78C4EE2-24FC-2ADD-6FA8-D23C3B935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69436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9D66661C-F280-877D-E46D-9F50B5E5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718A675-292A-7358-B692-DD3DE467A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1DE2F9F-563A-EF7B-EE15-73C04C1A58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217E14-0AF7-4099-A768-0DBF1C339CD4}" type="datetimeFigureOut">
              <a:rPr lang="tr-TR" smtClean="0"/>
              <a:t>23.12.2024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11F8EA7-FDF5-2FEC-075E-8BDD9F72EF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AA0F296-C1AF-5B21-CF51-C199B3A9C5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22544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B2B14A0-DDE2-06FD-1BEC-E7EF7B18BE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Öğrenci Akademisyen Yönetim Sistemi Sunumu</a:t>
            </a:r>
            <a:br>
              <a:rPr lang="tr-TR" dirty="0"/>
            </a:br>
            <a:endParaRPr lang="tr-TR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8D6E73AE-0C74-B7CE-C110-E0916C4311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07507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23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25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27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9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1F650F1B-8F28-F4F1-DF32-76216C2BAC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02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145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55EF22F-81F7-C4B7-CCD2-5B3A016DE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>
                <a:solidFill>
                  <a:srgbClr val="FFFFFF"/>
                </a:solidFill>
              </a:rPr>
              <a:t>Varlıklar ve İlişkileri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E6D8AC7-6E22-3B9D-F8B2-042D3B14DA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9351" y="1885278"/>
            <a:ext cx="10636280" cy="467818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Students (Öğrenciler)</a:t>
            </a:r>
            <a:endParaRPr kumimoji="0" lang="tr-TR" altLang="tr-TR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Academicians (Akademisyenler)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ile </a:t>
            </a:r>
            <a:r>
              <a:rPr kumimoji="0" lang="tr-TR" altLang="tr-TR" sz="24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N-1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ilişki: Her öğrenci bir akademisyene bağlıdır.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StudentSelectedCourses (Seçilen Dersler)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ile </a:t>
            </a:r>
            <a:r>
              <a:rPr kumimoji="0" lang="tr-TR" altLang="tr-TR" sz="24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1-N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ilişki: Her öğrenci birden fazla                                               ders seçebilir.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Academicians (Akademisyenler)</a:t>
            </a:r>
            <a:endParaRPr kumimoji="0" lang="tr-TR" altLang="tr-TR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Courses (Dersler)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ile </a:t>
            </a:r>
            <a:r>
              <a:rPr kumimoji="0" lang="tr-TR" altLang="tr-TR" sz="24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1-N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ilişki: Her akademisyen birden fazla ders verebilir.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Students (Öğrenciler)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ile </a:t>
            </a:r>
            <a:r>
              <a:rPr kumimoji="0" lang="tr-TR" altLang="tr-TR" sz="24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1-N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ilişki: Her akademisyen birden fazla öğrenciye danışmanlık yapabilir.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Users (Kullanıcılar)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(Opsiyonel)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Sistem içindeki tüm kullanıcılar (öğrenciler ve akademisyenler) için temel giriş bilgilerini içerir. Diğer tablolarla dolaylı bir ilişki kurulabilir.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tr-TR" altLang="tr-TR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102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B36A3EE-C3F5-31E2-95FA-056E4D3B1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>
                <a:solidFill>
                  <a:srgbClr val="FFFFFF"/>
                </a:solidFill>
              </a:rPr>
              <a:t>Varlıklar ve İlişkiler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EC3CA43-ED02-7DD9-3B65-C4A68ED55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921" y="1885279"/>
            <a:ext cx="10719710" cy="4116276"/>
          </a:xfrm>
        </p:spPr>
        <p:txBody>
          <a:bodyPr anchor="ctr"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Courses (Dersler)</a:t>
            </a:r>
            <a:endParaRPr kumimoji="0" lang="tr-TR" altLang="tr-TR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Academicians (Akademisyenler)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ile </a:t>
            </a:r>
            <a:r>
              <a:rPr kumimoji="0" lang="tr-TR" altLang="tr-TR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N-1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ilişki: Her ders bir akademisyen tarafından verilir.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StudentSelectedCourses (Seçilen Dersler)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ile </a:t>
            </a:r>
            <a:r>
              <a:rPr kumimoji="0" lang="tr-TR" altLang="tr-TR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1-N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ilişki: Her ders birden fazla öğrenci tarafından seçilebilir.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StudentSelectedCourses (Seçilen Dersler)</a:t>
            </a:r>
            <a:endParaRPr kumimoji="0" lang="tr-TR" altLang="tr-TR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Students (Öğrenciler)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ile </a:t>
            </a:r>
            <a:r>
              <a:rPr kumimoji="0" lang="tr-TR" altLang="tr-TR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N-1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ilişki: Her seçilen ders bir öğrenciye aittir.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Courses (Dersler)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ile </a:t>
            </a:r>
            <a:r>
              <a:rPr kumimoji="0" lang="tr-TR" altLang="tr-TR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N-1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ilişki: Her seçilen ders bir derse aittir.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14536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8E1314A-29E5-C57C-6E1A-F74675B2B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Fronted</a:t>
            </a:r>
            <a:r>
              <a:rPr lang="tr-TR" sz="4000" dirty="0">
                <a:solidFill>
                  <a:srgbClr val="FFFFFF"/>
                </a:solidFill>
              </a:rPr>
              <a:t> –Giriş Ekranı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4FF7A200-5B7B-A923-D8A1-AB4AE806AD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90741"/>
            <a:ext cx="12059920" cy="5267260"/>
          </a:xfrm>
        </p:spPr>
      </p:pic>
    </p:spTree>
    <p:extLst>
      <p:ext uri="{BB962C8B-B14F-4D97-AF65-F5344CB8AC3E}">
        <p14:creationId xmlns:p14="http://schemas.microsoft.com/office/powerpoint/2010/main" val="2209262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430FEDC-46BE-5E2E-BEBE-C34943E39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>
                <a:solidFill>
                  <a:srgbClr val="FFFFFF"/>
                </a:solidFill>
              </a:rPr>
              <a:t>Giriş Ekranı Hakkında Bilgiler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2C566D0-C00A-1718-F5C5-2A0AB3CD4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tr-TR" dirty="0">
                <a:cs typeface="Angsana New" panose="020B0502040204020203" pitchFamily="18" charset="-34"/>
              </a:rPr>
              <a:t>Giriş ekranında kullanıcı öğrenci veya akademisyen olduğunu ilgili </a:t>
            </a:r>
            <a:r>
              <a:rPr lang="tr-TR" dirty="0" err="1">
                <a:cs typeface="Angsana New" panose="020B0502040204020203" pitchFamily="18" charset="-34"/>
              </a:rPr>
              <a:t>resime</a:t>
            </a:r>
            <a:r>
              <a:rPr lang="tr-TR" dirty="0">
                <a:cs typeface="Angsana New" panose="020B0502040204020203" pitchFamily="18" charset="-34"/>
              </a:rPr>
              <a:t> tıklayıp seçiyor ardından  </a:t>
            </a:r>
            <a:r>
              <a:rPr lang="tr-TR" dirty="0" err="1">
                <a:cs typeface="Angsana New" panose="020B0502040204020203" pitchFamily="18" charset="-34"/>
              </a:rPr>
              <a:t>input</a:t>
            </a:r>
            <a:r>
              <a:rPr lang="tr-TR" dirty="0">
                <a:cs typeface="Angsana New" panose="020B0502040204020203" pitchFamily="18" charset="-34"/>
              </a:rPr>
              <a:t> kısımlarına gerekli ID ve şifre girdikten sonra ‘Giriş Yap’ butonuna tıkladıktan sonra sisteme giriş yapabiliyor</a:t>
            </a:r>
          </a:p>
        </p:txBody>
      </p:sp>
    </p:spTree>
    <p:extLst>
      <p:ext uri="{BB962C8B-B14F-4D97-AF65-F5344CB8AC3E}">
        <p14:creationId xmlns:p14="http://schemas.microsoft.com/office/powerpoint/2010/main" val="1270982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2F03284-2F44-6AD4-D404-B05A193F7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Fronted</a:t>
            </a:r>
            <a:r>
              <a:rPr lang="tr-TR" sz="4000" dirty="0">
                <a:solidFill>
                  <a:srgbClr val="FFFFFF"/>
                </a:solidFill>
              </a:rPr>
              <a:t>-Öğrenci Ekranı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A2909274-1B75-D592-04BB-EB4F903FD6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1590741"/>
            <a:ext cx="12621766" cy="5267259"/>
          </a:xfrm>
        </p:spPr>
      </p:pic>
    </p:spTree>
    <p:extLst>
      <p:ext uri="{BB962C8B-B14F-4D97-AF65-F5344CB8AC3E}">
        <p14:creationId xmlns:p14="http://schemas.microsoft.com/office/powerpoint/2010/main" val="3054058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79C9F43-2193-F0D1-249C-EC2A0DA49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 dirty="0" err="1">
                <a:solidFill>
                  <a:srgbClr val="FFFFFF"/>
                </a:solidFill>
              </a:rPr>
              <a:t>Ögrenci</a:t>
            </a:r>
            <a:r>
              <a:rPr lang="tr-TR" dirty="0">
                <a:solidFill>
                  <a:srgbClr val="FFFFFF"/>
                </a:solidFill>
              </a:rPr>
              <a:t> ekranı hakkında bilgiler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06C24E1-32CB-1B58-64D8-91F7B81B0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tr-TR" dirty="0"/>
              <a:t>Bir öğrenci sisteme giriş yaptığında ilk olarak kendi bilgilerini onun da altında danışman hocasının bilgilerini görebiliyor .</a:t>
            </a:r>
          </a:p>
          <a:p>
            <a:r>
              <a:rPr lang="tr-TR" dirty="0"/>
              <a:t>‘Derslerim’ butonuna tıklayarak seçmiş olduğu dersleri  görebiliyor.</a:t>
            </a:r>
          </a:p>
          <a:p>
            <a:r>
              <a:rPr lang="tr-TR" dirty="0"/>
              <a:t>‘Ders Seçim Yap’ butonuna tıklayarak  ders seçimi yapıp onaylanmak üzere danışman hocasına gönderebiliyor.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28030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5BC086E-C96C-7A4A-BCF5-7D08F5A4D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Fronted</a:t>
            </a:r>
            <a:r>
              <a:rPr lang="tr-TR" sz="4000" dirty="0">
                <a:solidFill>
                  <a:srgbClr val="FFFFFF"/>
                </a:solidFill>
              </a:rPr>
              <a:t>-Akademisyen Ekranı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C6B4669-46FC-4E5F-B0E8-0117234B7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endParaRPr lang="tr-TR" sz="2000"/>
          </a:p>
        </p:txBody>
      </p:sp>
    </p:spTree>
    <p:extLst>
      <p:ext uri="{BB962C8B-B14F-4D97-AF65-F5344CB8AC3E}">
        <p14:creationId xmlns:p14="http://schemas.microsoft.com/office/powerpoint/2010/main" val="2832590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F8766FF0-0354-BFBA-618D-FFB6D25FA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 sz="3600" dirty="0">
                <a:solidFill>
                  <a:srgbClr val="FFFFFF"/>
                </a:solidFill>
              </a:rPr>
              <a:t>Akademisyen ekranı hakkında bilgiler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027F0961-8056-1B0E-AAA8-DDBC638F9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240" y="1825625"/>
            <a:ext cx="6385560" cy="4351338"/>
          </a:xfrm>
        </p:spPr>
        <p:txBody>
          <a:bodyPr>
            <a:normAutofit lnSpcReduction="10000"/>
          </a:bodyPr>
          <a:lstStyle/>
          <a:p>
            <a:r>
              <a:rPr lang="tr-TR" dirty="0"/>
              <a:t>Bir akademisyen sisteme giriş yaptıktan sonra Kendi bilgilerini  görebiliyor.</a:t>
            </a:r>
          </a:p>
          <a:p>
            <a:r>
              <a:rPr lang="tr-TR" dirty="0"/>
              <a:t>‘</a:t>
            </a:r>
            <a:r>
              <a:rPr lang="tr-TR" dirty="0" err="1"/>
              <a:t>Ögrencilerim</a:t>
            </a:r>
            <a:r>
              <a:rPr lang="tr-TR" dirty="0"/>
              <a:t>’ butonuna tıklayarak danışmanlık yaptığı </a:t>
            </a:r>
            <a:r>
              <a:rPr lang="tr-TR" dirty="0" err="1"/>
              <a:t>Ögrencileri</a:t>
            </a:r>
            <a:r>
              <a:rPr lang="tr-TR" dirty="0"/>
              <a:t> görebiliyor .</a:t>
            </a:r>
          </a:p>
          <a:p>
            <a:r>
              <a:rPr lang="tr-TR" dirty="0" err="1"/>
              <a:t>Ögrencilerin</a:t>
            </a:r>
            <a:r>
              <a:rPr lang="tr-TR" dirty="0"/>
              <a:t> yanında bulunan ‘seçimler’ butonuna tıklayarak öğrencilerin  yaptığı ders seçimlerini görüp onaylayabiliyor veya </a:t>
            </a:r>
            <a:r>
              <a:rPr lang="tr-TR" dirty="0" err="1"/>
              <a:t>reddebiliyor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6745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D5FBF9D-D71C-A8C5-019F-2D1113B0C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</a:t>
            </a:r>
            <a:r>
              <a:rPr lang="tr-TR" sz="4000" dirty="0" err="1">
                <a:solidFill>
                  <a:srgbClr val="FFFFFF"/>
                </a:solidFill>
              </a:rPr>
              <a:t>Student</a:t>
            </a:r>
            <a:r>
              <a:rPr lang="tr-TR" sz="4000" dirty="0">
                <a:solidFill>
                  <a:srgbClr val="FFFFFF"/>
                </a:solidFill>
              </a:rPr>
              <a:t> sınıfı-</a:t>
            </a:r>
            <a:r>
              <a:rPr lang="tr-TR" sz="4000" dirty="0" err="1">
                <a:solidFill>
                  <a:srgbClr val="FFFFFF"/>
                </a:solidFill>
              </a:rPr>
              <a:t>Get</a:t>
            </a:r>
            <a:r>
              <a:rPr lang="tr-TR" sz="4000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7" name="İçerik Yer Tutucusu 6">
            <a:extLst>
              <a:ext uri="{FF2B5EF4-FFF2-40B4-BE49-F238E27FC236}">
                <a16:creationId xmlns:a16="http://schemas.microsoft.com/office/drawing/2014/main" id="{68442929-A605-4A4B-BE77-4F0553931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B13110C8-4418-A4BE-7997-A036B55DA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0741"/>
            <a:ext cx="12192000" cy="580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62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114FD2C-87DD-7E55-6071-27347D883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 dirty="0" err="1">
                <a:solidFill>
                  <a:srgbClr val="FFFFFF"/>
                </a:solidFill>
              </a:rPr>
              <a:t>Student</a:t>
            </a:r>
            <a:r>
              <a:rPr lang="tr-TR" dirty="0">
                <a:solidFill>
                  <a:srgbClr val="FFFFFF"/>
                </a:solidFill>
              </a:rPr>
              <a:t> sınıfı için GET </a:t>
            </a:r>
            <a:r>
              <a:rPr lang="tr-TR" dirty="0" err="1">
                <a:solidFill>
                  <a:srgbClr val="FFFFFF"/>
                </a:solidFill>
              </a:rPr>
              <a:t>apisi</a:t>
            </a:r>
            <a:r>
              <a:rPr lang="tr-TR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DD96D59-9A5A-AE43-6EFD-3C8DB3AA3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tr-TR" dirty="0" err="1"/>
              <a:t>Get</a:t>
            </a:r>
            <a:r>
              <a:rPr lang="tr-TR" dirty="0"/>
              <a:t> </a:t>
            </a:r>
            <a:r>
              <a:rPr lang="tr-TR" dirty="0" err="1"/>
              <a:t>apisini</a:t>
            </a:r>
            <a:r>
              <a:rPr lang="tr-TR" dirty="0"/>
              <a:t> kullanarak veri tabanında bütün öğrencileri listeleyebiliriz .</a:t>
            </a:r>
          </a:p>
          <a:p>
            <a:r>
              <a:rPr lang="tr-TR" dirty="0"/>
              <a:t>Aynı zamanda akademisyen sayfasında öğrencilerim butonuna tıklandığında bu </a:t>
            </a:r>
            <a:r>
              <a:rPr lang="tr-TR" dirty="0" err="1"/>
              <a:t>api</a:t>
            </a:r>
            <a:r>
              <a:rPr lang="tr-TR" dirty="0"/>
              <a:t> aracılığıyla öğrencileri listeliyoruz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27304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60A7D00-8D39-D119-24F4-552369C86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</a:t>
            </a:r>
            <a:r>
              <a:rPr lang="tr-TR" sz="4000" dirty="0" err="1">
                <a:solidFill>
                  <a:srgbClr val="FFFFFF"/>
                </a:solidFill>
              </a:rPr>
              <a:t>Student</a:t>
            </a:r>
            <a:r>
              <a:rPr lang="tr-TR" sz="4000" dirty="0">
                <a:solidFill>
                  <a:srgbClr val="FFFFFF"/>
                </a:solidFill>
              </a:rPr>
              <a:t>-Post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3FD0E06E-2C65-C7AB-A086-696A14D289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81575" y="1586706"/>
            <a:ext cx="12365015" cy="3574574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D3216B60-EB3B-7FE5-261E-EAB8390FB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14164"/>
            <a:ext cx="12080240" cy="174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519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8752A06-868A-D3FE-0DB1-0473A5068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tr-TR" sz="5400" dirty="0">
                <a:solidFill>
                  <a:srgbClr val="FFFFFF"/>
                </a:solidFill>
              </a:rPr>
              <a:t>Post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0013772-ACC9-55C6-68E1-E3BD35F18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sz="2200" dirty="0"/>
              <a:t>Post metodu ile de </a:t>
            </a:r>
            <a:r>
              <a:rPr lang="tr-TR" sz="2200" dirty="0" err="1"/>
              <a:t>backend</a:t>
            </a:r>
            <a:r>
              <a:rPr lang="tr-TR" sz="2200" dirty="0"/>
              <a:t> aracılığıyla </a:t>
            </a:r>
            <a:r>
              <a:rPr lang="tr-TR" sz="2200" dirty="0" err="1"/>
              <a:t>api</a:t>
            </a:r>
            <a:r>
              <a:rPr lang="tr-TR" sz="2200" dirty="0"/>
              <a:t> kullanarak </a:t>
            </a:r>
            <a:r>
              <a:rPr lang="tr-TR" sz="2200" dirty="0" err="1"/>
              <a:t>veritabanına</a:t>
            </a:r>
            <a:r>
              <a:rPr lang="tr-TR" sz="2200" dirty="0"/>
              <a:t> ve sisteme öğrenci ekliyoruz.</a:t>
            </a:r>
          </a:p>
          <a:p>
            <a:endParaRPr lang="tr-TR" sz="2200" dirty="0"/>
          </a:p>
          <a:p>
            <a:r>
              <a:rPr lang="tr-TR" sz="2200" dirty="0" err="1"/>
              <a:t>Eger</a:t>
            </a:r>
            <a:r>
              <a:rPr lang="tr-TR" sz="2200" dirty="0"/>
              <a:t> akademisyen sınıfına ‘Öğrenci Ekle’ butonu eklenirse POST </a:t>
            </a:r>
            <a:r>
              <a:rPr lang="tr-TR" sz="2200" dirty="0" err="1"/>
              <a:t>apisi</a:t>
            </a:r>
            <a:r>
              <a:rPr lang="tr-TR" sz="2200" dirty="0"/>
              <a:t> aracılığıyla </a:t>
            </a:r>
          </a:p>
          <a:p>
            <a:pPr marL="0" indent="0">
              <a:buNone/>
            </a:pPr>
            <a:r>
              <a:rPr lang="tr-TR" sz="2200" dirty="0"/>
              <a:t>    </a:t>
            </a:r>
            <a:r>
              <a:rPr lang="tr-TR" sz="2200" dirty="0" err="1"/>
              <a:t>Ögrenci</a:t>
            </a:r>
            <a:r>
              <a:rPr lang="tr-TR" sz="2200" dirty="0"/>
              <a:t> ekleyebiliriz bir önceki sayfadaki örnekte olduğu gibi .</a:t>
            </a:r>
          </a:p>
        </p:txBody>
      </p:sp>
    </p:spTree>
    <p:extLst>
      <p:ext uri="{BB962C8B-B14F-4D97-AF65-F5344CB8AC3E}">
        <p14:creationId xmlns:p14="http://schemas.microsoft.com/office/powerpoint/2010/main" val="876065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C991B73-C76D-C061-97D5-5A66EACFE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</a:t>
            </a:r>
            <a:r>
              <a:rPr lang="tr-TR" sz="4000" dirty="0" err="1">
                <a:solidFill>
                  <a:srgbClr val="FFFFFF"/>
                </a:solidFill>
              </a:rPr>
              <a:t>Student</a:t>
            </a:r>
            <a:r>
              <a:rPr lang="tr-TR" sz="4000" dirty="0">
                <a:solidFill>
                  <a:srgbClr val="FFFFFF"/>
                </a:solidFill>
              </a:rPr>
              <a:t>-Put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C84DC2A7-6FAD-6A6D-08CA-439534E755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" y="1580015"/>
            <a:ext cx="12192002" cy="4031774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73E89EDB-2EA6-3CCB-82CE-879C62845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" y="5618480"/>
            <a:ext cx="12192006" cy="123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547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4F01BA0-247C-BEF7-826A-CC753BFA9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tr-TR" sz="5400" dirty="0">
                <a:solidFill>
                  <a:srgbClr val="FFFFFF"/>
                </a:solidFill>
              </a:rPr>
              <a:t>Put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0136B65-80CF-224C-A351-7EEE15689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sz="2200" dirty="0"/>
              <a:t>Put </a:t>
            </a:r>
            <a:r>
              <a:rPr lang="tr-TR" sz="2200" dirty="0" err="1"/>
              <a:t>apisi</a:t>
            </a:r>
            <a:r>
              <a:rPr lang="tr-TR" sz="2200" dirty="0"/>
              <a:t> aracılığıyla mevcut bir öğrenci hakkındaki bir bilgiyi değiştirebiliyoruz .</a:t>
            </a:r>
          </a:p>
          <a:p>
            <a:r>
              <a:rPr lang="tr-TR" sz="2200" dirty="0"/>
              <a:t>Yukarıdaki  örnekte öğrenci </a:t>
            </a:r>
            <a:r>
              <a:rPr lang="tr-TR" sz="2200" dirty="0" err="1"/>
              <a:t>id’si</a:t>
            </a:r>
            <a:r>
              <a:rPr lang="tr-TR" sz="2200" dirty="0"/>
              <a:t> girerek öğrencinin değiştirmek istediğimiz bilgisini </a:t>
            </a:r>
            <a:r>
              <a:rPr lang="tr-TR" sz="2200" dirty="0" err="1"/>
              <a:t>veritabanıyla</a:t>
            </a:r>
            <a:r>
              <a:rPr lang="tr-TR" sz="2200" dirty="0"/>
              <a:t> uğraşmadan bu aracı ile halledebiliyoruz.</a:t>
            </a:r>
          </a:p>
          <a:p>
            <a:r>
              <a:rPr lang="tr-TR" sz="2200" dirty="0"/>
              <a:t>Akademisyen sınıfına eklenecek bir ‘</a:t>
            </a:r>
            <a:r>
              <a:rPr lang="tr-TR" sz="2200" dirty="0" err="1"/>
              <a:t>Ögrenci</a:t>
            </a:r>
            <a:r>
              <a:rPr lang="tr-TR" sz="2200" dirty="0"/>
              <a:t> Bilgilerini Düzenle ’ butonu ile buton kullanıldığında bu </a:t>
            </a:r>
            <a:r>
              <a:rPr lang="tr-TR" sz="2200" dirty="0" err="1"/>
              <a:t>api</a:t>
            </a:r>
            <a:r>
              <a:rPr lang="tr-TR" sz="2200" dirty="0"/>
              <a:t> aracılığıyla her akademisyen </a:t>
            </a:r>
            <a:r>
              <a:rPr lang="tr-TR" sz="2200" dirty="0" err="1"/>
              <a:t>veritabanı</a:t>
            </a:r>
            <a:r>
              <a:rPr lang="tr-TR" sz="2200" dirty="0"/>
              <a:t> </a:t>
            </a:r>
            <a:r>
              <a:rPr lang="tr-TR" sz="2200" dirty="0" err="1"/>
              <a:t>sorgulanı</a:t>
            </a:r>
            <a:r>
              <a:rPr lang="tr-TR" sz="2200" dirty="0"/>
              <a:t> bilmek zorunda kalmaz put </a:t>
            </a:r>
            <a:r>
              <a:rPr lang="tr-TR" sz="2200" dirty="0" err="1"/>
              <a:t>apisi</a:t>
            </a:r>
            <a:r>
              <a:rPr lang="tr-TR" sz="2200" dirty="0"/>
              <a:t> aracılığıyla  butona tıklayarak halledir.</a:t>
            </a:r>
          </a:p>
        </p:txBody>
      </p:sp>
    </p:spTree>
    <p:extLst>
      <p:ext uri="{BB962C8B-B14F-4D97-AF65-F5344CB8AC3E}">
        <p14:creationId xmlns:p14="http://schemas.microsoft.com/office/powerpoint/2010/main" val="49557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CE7A722-CC6F-B44F-68A4-D59C2B28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</a:t>
            </a:r>
            <a:r>
              <a:rPr lang="tr-TR" sz="4000" dirty="0" err="1">
                <a:solidFill>
                  <a:srgbClr val="FFFFFF"/>
                </a:solidFill>
              </a:rPr>
              <a:t>Student-Delete</a:t>
            </a:r>
            <a:endParaRPr lang="tr-TR" sz="4000" dirty="0">
              <a:solidFill>
                <a:srgbClr val="FFFFFF"/>
              </a:solidFill>
            </a:endParaRP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18A76FFA-2EDD-10A3-CDE1-CEF15C1B46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8" y="1586706"/>
            <a:ext cx="12192007" cy="3798094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845AAED8-3586-5FA6-4033-6DDCE392F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" y="5384800"/>
            <a:ext cx="12192009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316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BE7C390-5D56-38B6-5D5B-0D53AC701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tr-TR" sz="5400" dirty="0" err="1">
                <a:solidFill>
                  <a:srgbClr val="FFFFFF"/>
                </a:solidFill>
              </a:rPr>
              <a:t>Delete</a:t>
            </a:r>
            <a:r>
              <a:rPr lang="tr-TR" sz="5400" dirty="0">
                <a:solidFill>
                  <a:srgbClr val="FFFFFF"/>
                </a:solidFill>
              </a:rPr>
              <a:t>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48D0EDD-51D3-F3AA-ED6D-6B05D4078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2423160"/>
            <a:ext cx="11079480" cy="3753803"/>
          </a:xfrm>
        </p:spPr>
        <p:txBody>
          <a:bodyPr>
            <a:normAutofit/>
          </a:bodyPr>
          <a:lstStyle/>
          <a:p>
            <a:r>
              <a:rPr lang="tr-TR" sz="2200" dirty="0" err="1"/>
              <a:t>Delete</a:t>
            </a:r>
            <a:r>
              <a:rPr lang="tr-TR" sz="2200" dirty="0"/>
              <a:t> </a:t>
            </a:r>
            <a:r>
              <a:rPr lang="tr-TR" sz="2200" dirty="0" err="1"/>
              <a:t>apisi</a:t>
            </a:r>
            <a:r>
              <a:rPr lang="tr-TR" sz="2200" dirty="0"/>
              <a:t> aracılığıyla mevcut bir öğrenciyi veri tabanı ile </a:t>
            </a:r>
            <a:r>
              <a:rPr lang="tr-TR" sz="2200" dirty="0" err="1"/>
              <a:t>etkileişme</a:t>
            </a:r>
            <a:r>
              <a:rPr lang="tr-TR" sz="2200" dirty="0"/>
              <a:t> girmeden </a:t>
            </a:r>
            <a:r>
              <a:rPr lang="tr-TR" sz="2200" dirty="0" err="1"/>
              <a:t>api</a:t>
            </a:r>
            <a:r>
              <a:rPr lang="tr-TR" sz="2200" dirty="0"/>
              <a:t> </a:t>
            </a:r>
            <a:r>
              <a:rPr lang="tr-TR" sz="2200" dirty="0" err="1"/>
              <a:t>aracalığıyla</a:t>
            </a:r>
            <a:r>
              <a:rPr lang="tr-TR" sz="2200" dirty="0"/>
              <a:t> silebiliyoruz.</a:t>
            </a:r>
          </a:p>
          <a:p>
            <a:endParaRPr lang="tr-TR" sz="2200" dirty="0"/>
          </a:p>
          <a:p>
            <a:r>
              <a:rPr lang="tr-TR" sz="2200" dirty="0"/>
              <a:t>Yukarıdaki  örnekte öğrenci </a:t>
            </a:r>
            <a:r>
              <a:rPr lang="tr-TR" sz="2200" dirty="0" err="1"/>
              <a:t>id’si</a:t>
            </a:r>
            <a:r>
              <a:rPr lang="tr-TR" sz="2200" dirty="0"/>
              <a:t> girerek öğrenciyi siliyoruz.</a:t>
            </a:r>
          </a:p>
          <a:p>
            <a:endParaRPr lang="tr-TR" sz="2200" dirty="0"/>
          </a:p>
          <a:p>
            <a:r>
              <a:rPr lang="tr-TR" sz="2200" dirty="0"/>
              <a:t>Akademisyen sınıfına eklenecek bir ‘</a:t>
            </a:r>
            <a:r>
              <a:rPr lang="tr-TR" sz="2200" dirty="0" err="1"/>
              <a:t>Ögrenciyi</a:t>
            </a:r>
            <a:r>
              <a:rPr lang="tr-TR" sz="2200" dirty="0"/>
              <a:t> Sil’ butonu ile buton kullanıldığında bu </a:t>
            </a:r>
            <a:r>
              <a:rPr lang="tr-TR" sz="2200" dirty="0" err="1"/>
              <a:t>api</a:t>
            </a:r>
            <a:r>
              <a:rPr lang="tr-TR" sz="2200" dirty="0"/>
              <a:t> aracılığıyla her akademisyen </a:t>
            </a:r>
            <a:r>
              <a:rPr lang="tr-TR" sz="2200" dirty="0" err="1"/>
              <a:t>veritabanı</a:t>
            </a:r>
            <a:r>
              <a:rPr lang="tr-TR" sz="2200" dirty="0"/>
              <a:t> sorgularını bilmek zorunda kalmaz </a:t>
            </a:r>
            <a:r>
              <a:rPr lang="tr-TR" sz="2200" dirty="0" err="1"/>
              <a:t>delete</a:t>
            </a:r>
            <a:r>
              <a:rPr lang="tr-TR" sz="2200" dirty="0"/>
              <a:t> </a:t>
            </a:r>
            <a:r>
              <a:rPr lang="tr-TR" sz="2200" dirty="0" err="1"/>
              <a:t>apisi</a:t>
            </a:r>
            <a:r>
              <a:rPr lang="tr-TR" sz="2200" dirty="0"/>
              <a:t> aracılığıyla  butona tıklayarak öğrenciyi silebilir.</a:t>
            </a:r>
          </a:p>
          <a:p>
            <a:endParaRPr lang="tr-TR" sz="2200" dirty="0"/>
          </a:p>
          <a:p>
            <a:endParaRPr lang="tr-TR" sz="2200" dirty="0"/>
          </a:p>
          <a:p>
            <a:pPr marL="0" indent="0">
              <a:buNone/>
            </a:pPr>
            <a:endParaRPr lang="tr-TR" sz="2200" dirty="0"/>
          </a:p>
        </p:txBody>
      </p:sp>
    </p:spTree>
    <p:extLst>
      <p:ext uri="{BB962C8B-B14F-4D97-AF65-F5344CB8AC3E}">
        <p14:creationId xmlns:p14="http://schemas.microsoft.com/office/powerpoint/2010/main" val="24211355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4B6AC16-C7D3-1B70-044A-8F059FC40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</a:t>
            </a:r>
            <a:r>
              <a:rPr lang="tr-TR" sz="4000" dirty="0" err="1">
                <a:solidFill>
                  <a:srgbClr val="FFFFFF"/>
                </a:solidFill>
              </a:rPr>
              <a:t>Academician-Get</a:t>
            </a:r>
            <a:endParaRPr lang="tr-TR" sz="4000" dirty="0">
              <a:solidFill>
                <a:srgbClr val="FFFFFF"/>
              </a:solidFill>
            </a:endParaRP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573EE143-03C8-0774-0DA1-802AA8FDF4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94409"/>
            <a:ext cx="12192000" cy="5363591"/>
          </a:xfrm>
        </p:spPr>
      </p:pic>
    </p:spTree>
    <p:extLst>
      <p:ext uri="{BB962C8B-B14F-4D97-AF65-F5344CB8AC3E}">
        <p14:creationId xmlns:p14="http://schemas.microsoft.com/office/powerpoint/2010/main" val="984417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E594C7E-FDE5-A77E-FA88-44F3FB12F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 fontScale="90000"/>
          </a:bodyPr>
          <a:lstStyle/>
          <a:p>
            <a:r>
              <a:rPr lang="tr-TR" sz="5400" dirty="0" err="1">
                <a:solidFill>
                  <a:srgbClr val="FFFFFF"/>
                </a:solidFill>
              </a:rPr>
              <a:t>Academician</a:t>
            </a:r>
            <a:r>
              <a:rPr lang="tr-TR" sz="5400" dirty="0">
                <a:solidFill>
                  <a:srgbClr val="FFFFFF"/>
                </a:solidFill>
              </a:rPr>
              <a:t> sınıfı için GET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9E318DD-73C7-D07A-A832-57054FCD1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sz="3200" dirty="0" err="1"/>
              <a:t>Get</a:t>
            </a:r>
            <a:r>
              <a:rPr lang="tr-TR" sz="3200" dirty="0"/>
              <a:t> </a:t>
            </a:r>
            <a:r>
              <a:rPr lang="tr-TR" sz="3200" dirty="0" err="1"/>
              <a:t>apisini</a:t>
            </a:r>
            <a:r>
              <a:rPr lang="tr-TR" sz="3200" dirty="0"/>
              <a:t> kullanarak veri tabanında bütün </a:t>
            </a:r>
            <a:r>
              <a:rPr lang="tr-TR" sz="3200" dirty="0" err="1"/>
              <a:t>academisyenleri</a:t>
            </a:r>
            <a:r>
              <a:rPr lang="tr-TR" sz="3200" dirty="0"/>
              <a:t> listeleyebiliriz .</a:t>
            </a:r>
          </a:p>
          <a:p>
            <a:endParaRPr lang="tr-TR" sz="3200" dirty="0"/>
          </a:p>
          <a:p>
            <a:r>
              <a:rPr lang="tr-TR" sz="3200" dirty="0"/>
              <a:t>Eğer bir buton ekleyip akademisyenleri listelemek istersek bu </a:t>
            </a:r>
            <a:r>
              <a:rPr lang="tr-TR" sz="3200" dirty="0" err="1"/>
              <a:t>api</a:t>
            </a:r>
            <a:r>
              <a:rPr lang="tr-TR" sz="3200" dirty="0"/>
              <a:t> aracılığıyla veri tabanına erişebiliriz(örneğin admin panelinde kullanılabilir.)</a:t>
            </a:r>
          </a:p>
        </p:txBody>
      </p:sp>
    </p:spTree>
    <p:extLst>
      <p:ext uri="{BB962C8B-B14F-4D97-AF65-F5344CB8AC3E}">
        <p14:creationId xmlns:p14="http://schemas.microsoft.com/office/powerpoint/2010/main" val="2437273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958E6F7-2792-C37B-F98D-7FC72DF73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</a:t>
            </a:r>
            <a:r>
              <a:rPr lang="tr-TR" sz="4000" dirty="0" err="1">
                <a:solidFill>
                  <a:srgbClr val="FFFFFF"/>
                </a:solidFill>
              </a:rPr>
              <a:t>Academician</a:t>
            </a:r>
            <a:r>
              <a:rPr lang="tr-TR" sz="4000" dirty="0">
                <a:solidFill>
                  <a:srgbClr val="FFFFFF"/>
                </a:solidFill>
              </a:rPr>
              <a:t>-Post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F17F9960-701C-A776-7896-188FEE653E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86705"/>
            <a:ext cx="12192000" cy="4256311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3A5D934F-5EFD-2885-0DB8-028CD9152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43016"/>
            <a:ext cx="12192000" cy="89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3348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FBE6144-F756-A736-A497-B7FF698E7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tr-TR" sz="5400" dirty="0">
                <a:solidFill>
                  <a:srgbClr val="FFFFFF"/>
                </a:solidFill>
              </a:rPr>
              <a:t>Post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C09B155-5830-CD85-7DB9-34C6B02EB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sz="3200" dirty="0"/>
              <a:t>Post metodu ile de </a:t>
            </a:r>
            <a:r>
              <a:rPr lang="tr-TR" sz="3200" dirty="0" err="1"/>
              <a:t>backend</a:t>
            </a:r>
            <a:r>
              <a:rPr lang="tr-TR" sz="3200" dirty="0"/>
              <a:t> aracılığıyla </a:t>
            </a:r>
            <a:r>
              <a:rPr lang="tr-TR" sz="3200" dirty="0" err="1"/>
              <a:t>api</a:t>
            </a:r>
            <a:r>
              <a:rPr lang="tr-TR" sz="3200" dirty="0"/>
              <a:t> kullanarak </a:t>
            </a:r>
            <a:r>
              <a:rPr lang="tr-TR" sz="3200" dirty="0" err="1"/>
              <a:t>veritabanına</a:t>
            </a:r>
            <a:r>
              <a:rPr lang="tr-TR" sz="3200" dirty="0"/>
              <a:t> ve sisteme akademisyen ekliyoruz.</a:t>
            </a:r>
          </a:p>
          <a:p>
            <a:endParaRPr lang="tr-TR" sz="3200" dirty="0"/>
          </a:p>
          <a:p>
            <a:r>
              <a:rPr lang="tr-TR" sz="3200" dirty="0" err="1"/>
              <a:t>Eger</a:t>
            </a:r>
            <a:r>
              <a:rPr lang="tr-TR" sz="3200" dirty="0"/>
              <a:t> admin sayfası oluşturulur ve ‘akademisyen Ekle’ butonu eklenirse POST </a:t>
            </a:r>
            <a:r>
              <a:rPr lang="tr-TR" sz="3200" dirty="0" err="1"/>
              <a:t>apisi</a:t>
            </a:r>
            <a:r>
              <a:rPr lang="tr-TR" sz="3200" dirty="0"/>
              <a:t> aracılığıyla akademisyen ekleyebiliriz bir önceki sayfadaki örnekte olduğu gibi .</a:t>
            </a:r>
          </a:p>
          <a:p>
            <a:endParaRPr lang="tr-TR" sz="2200" dirty="0"/>
          </a:p>
          <a:p>
            <a:endParaRPr lang="tr-TR" sz="2200" dirty="0"/>
          </a:p>
        </p:txBody>
      </p:sp>
    </p:spTree>
    <p:extLst>
      <p:ext uri="{BB962C8B-B14F-4D97-AF65-F5344CB8AC3E}">
        <p14:creationId xmlns:p14="http://schemas.microsoft.com/office/powerpoint/2010/main" val="14134551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655788F-CAD4-BFE8-C635-AD64A296B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</a:t>
            </a:r>
            <a:r>
              <a:rPr lang="tr-TR" sz="4000" dirty="0" err="1">
                <a:solidFill>
                  <a:srgbClr val="FFFFFF"/>
                </a:solidFill>
              </a:rPr>
              <a:t>Academician</a:t>
            </a:r>
            <a:r>
              <a:rPr lang="tr-TR" sz="4000" dirty="0">
                <a:solidFill>
                  <a:srgbClr val="FFFFFF"/>
                </a:solidFill>
              </a:rPr>
              <a:t>-Put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F9EFE13C-530A-C973-D785-A4F6AEB1FD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" y="1586706"/>
            <a:ext cx="12192004" cy="4052094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2855AB14-0CE4-7577-5655-0ABA0988D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" y="5638800"/>
            <a:ext cx="12191996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1336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5F9F07C-EE1B-7103-AF09-30794ADCB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tr-TR" sz="5400" dirty="0">
                <a:solidFill>
                  <a:srgbClr val="FFFFFF"/>
                </a:solidFill>
              </a:rPr>
              <a:t>Put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452051B-EA62-BA6E-BDC7-18AF4D9EF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sz="3200" dirty="0"/>
              <a:t>Put metodu ile de </a:t>
            </a:r>
            <a:r>
              <a:rPr lang="tr-TR" sz="3200" dirty="0" err="1"/>
              <a:t>backend</a:t>
            </a:r>
            <a:r>
              <a:rPr lang="tr-TR" sz="3200" dirty="0"/>
              <a:t> aracılığıyla </a:t>
            </a:r>
            <a:r>
              <a:rPr lang="tr-TR" sz="3200" dirty="0" err="1"/>
              <a:t>api</a:t>
            </a:r>
            <a:r>
              <a:rPr lang="tr-TR" sz="3200" dirty="0"/>
              <a:t> kullanarak </a:t>
            </a:r>
            <a:r>
              <a:rPr lang="tr-TR" sz="3200" dirty="0" err="1"/>
              <a:t>veritabanına</a:t>
            </a:r>
            <a:r>
              <a:rPr lang="tr-TR" sz="3200" dirty="0"/>
              <a:t> ve sistemdeki bir akademisyenin bilgilerini </a:t>
            </a:r>
            <a:r>
              <a:rPr lang="tr-TR" sz="3200" dirty="0" err="1"/>
              <a:t>degiştiriyoruz</a:t>
            </a:r>
            <a:r>
              <a:rPr lang="tr-TR" sz="3200" dirty="0"/>
              <a:t>.</a:t>
            </a:r>
          </a:p>
          <a:p>
            <a:r>
              <a:rPr lang="tr-TR" sz="3200" dirty="0" err="1"/>
              <a:t>Eger</a:t>
            </a:r>
            <a:r>
              <a:rPr lang="tr-TR" sz="3200" dirty="0"/>
              <a:t> admin sayfası oluşturulur ve ‘akademisyen Bilgilerini Güncelle’ butonu eklenirse PUT </a:t>
            </a:r>
            <a:r>
              <a:rPr lang="tr-TR" sz="3200" dirty="0" err="1"/>
              <a:t>apisi</a:t>
            </a:r>
            <a:r>
              <a:rPr lang="tr-TR" sz="3200" dirty="0"/>
              <a:t> aracılığıyla akademisyen bilgilerini güncelleyebiliriz bir önceki sayfadaki örnekte olduğu gibi .</a:t>
            </a:r>
          </a:p>
          <a:p>
            <a:endParaRPr lang="tr-TR" sz="2200" dirty="0"/>
          </a:p>
          <a:p>
            <a:endParaRPr lang="tr-TR" sz="2200" dirty="0"/>
          </a:p>
        </p:txBody>
      </p:sp>
    </p:spTree>
    <p:extLst>
      <p:ext uri="{BB962C8B-B14F-4D97-AF65-F5344CB8AC3E}">
        <p14:creationId xmlns:p14="http://schemas.microsoft.com/office/powerpoint/2010/main" val="23406108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CAB8531-83F2-5E93-4E07-D085DC821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</a:t>
            </a:r>
            <a:r>
              <a:rPr lang="tr-TR" sz="4000" dirty="0" err="1">
                <a:solidFill>
                  <a:srgbClr val="FFFFFF"/>
                </a:solidFill>
              </a:rPr>
              <a:t>Academician-Delete</a:t>
            </a:r>
            <a:endParaRPr lang="tr-TR" sz="4000" dirty="0">
              <a:solidFill>
                <a:srgbClr val="FFFFFF"/>
              </a:solidFill>
            </a:endParaRP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F88E5904-4D06-CC3A-18E3-F39595CEFA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86706"/>
            <a:ext cx="12191996" cy="3684588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EABC3F0A-139B-B040-F174-B3615F223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6" y="5271294"/>
            <a:ext cx="12116919" cy="159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669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692040F-098E-0C70-E6B3-07909F6D8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tr-TR" sz="5400" dirty="0" err="1">
                <a:solidFill>
                  <a:srgbClr val="FFFFFF"/>
                </a:solidFill>
              </a:rPr>
              <a:t>Delete</a:t>
            </a:r>
            <a:r>
              <a:rPr lang="tr-TR" sz="5400" dirty="0">
                <a:solidFill>
                  <a:srgbClr val="FFFFFF"/>
                </a:solidFill>
              </a:rPr>
              <a:t>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4B3E4AD-2ACE-BD30-EAD4-9AD9BCC42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dirty="0" err="1"/>
              <a:t>Delete</a:t>
            </a:r>
            <a:r>
              <a:rPr lang="tr-TR" dirty="0"/>
              <a:t> metodu ile de </a:t>
            </a:r>
            <a:r>
              <a:rPr lang="tr-TR" dirty="0" err="1"/>
              <a:t>backend</a:t>
            </a:r>
            <a:r>
              <a:rPr lang="tr-TR" dirty="0"/>
              <a:t> aracılığıyla </a:t>
            </a:r>
            <a:r>
              <a:rPr lang="tr-TR" dirty="0" err="1"/>
              <a:t>delete</a:t>
            </a:r>
            <a:r>
              <a:rPr lang="tr-TR" dirty="0"/>
              <a:t> </a:t>
            </a:r>
            <a:r>
              <a:rPr lang="tr-TR" dirty="0" err="1"/>
              <a:t>apisi</a:t>
            </a:r>
            <a:r>
              <a:rPr lang="tr-TR" dirty="0"/>
              <a:t> kullanarak </a:t>
            </a:r>
            <a:r>
              <a:rPr lang="tr-TR" dirty="0" err="1"/>
              <a:t>veritabanına</a:t>
            </a:r>
            <a:r>
              <a:rPr lang="tr-TR" dirty="0"/>
              <a:t> ve sistemdeki bir akademisyenin bilgilerini siliyoruz.</a:t>
            </a:r>
          </a:p>
          <a:p>
            <a:endParaRPr lang="tr-TR" dirty="0"/>
          </a:p>
          <a:p>
            <a:r>
              <a:rPr lang="tr-TR" dirty="0" err="1"/>
              <a:t>Eger</a:t>
            </a:r>
            <a:r>
              <a:rPr lang="tr-TR" dirty="0"/>
              <a:t> admin sayfası oluşturulur ve ‘akademisyeni Sil’ butonu eklenirse DELETE </a:t>
            </a:r>
            <a:r>
              <a:rPr lang="tr-TR" dirty="0" err="1"/>
              <a:t>apisi</a:t>
            </a:r>
            <a:r>
              <a:rPr lang="tr-TR" dirty="0"/>
              <a:t> aracılığıyla akademisyen bilgilerini </a:t>
            </a:r>
            <a:r>
              <a:rPr lang="tr-TR" dirty="0" err="1"/>
              <a:t>silebilriz</a:t>
            </a:r>
            <a:r>
              <a:rPr lang="tr-TR" dirty="0"/>
              <a:t>    bir önceki sayfadaki örnekte olduğu gibi .</a:t>
            </a:r>
          </a:p>
          <a:p>
            <a:endParaRPr lang="tr-TR" sz="2200" dirty="0"/>
          </a:p>
        </p:txBody>
      </p:sp>
    </p:spTree>
    <p:extLst>
      <p:ext uri="{BB962C8B-B14F-4D97-AF65-F5344CB8AC3E}">
        <p14:creationId xmlns:p14="http://schemas.microsoft.com/office/powerpoint/2010/main" val="25161343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85D5990-5519-D698-705C-09A6458F6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–Course-</a:t>
            </a:r>
            <a:r>
              <a:rPr lang="tr-TR" sz="4000" dirty="0" err="1">
                <a:solidFill>
                  <a:srgbClr val="FFFFFF"/>
                </a:solidFill>
              </a:rPr>
              <a:t>Get</a:t>
            </a:r>
            <a:endParaRPr lang="tr-TR" sz="4000" dirty="0">
              <a:solidFill>
                <a:srgbClr val="FFFFFF"/>
              </a:solidFill>
            </a:endParaRP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7EA73D31-FCF3-5AD8-EF03-FB52B145CC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97432"/>
            <a:ext cx="12191996" cy="3899128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790EAB06-F71C-08A5-6BDD-CFEAF264E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03250"/>
            <a:ext cx="12263120" cy="136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8079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E18054B-885B-D7DE-D4D0-B6B943812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 sz="4400" dirty="0">
                <a:solidFill>
                  <a:srgbClr val="FFFFFF"/>
                </a:solidFill>
              </a:rPr>
              <a:t>Course sınıfı için GET </a:t>
            </a:r>
            <a:r>
              <a:rPr lang="tr-TR" sz="4400" dirty="0" err="1">
                <a:solidFill>
                  <a:srgbClr val="FFFFFF"/>
                </a:solidFill>
              </a:rPr>
              <a:t>apisi</a:t>
            </a:r>
            <a:r>
              <a:rPr lang="tr-TR" sz="4400" dirty="0">
                <a:solidFill>
                  <a:srgbClr val="FFFFFF"/>
                </a:solidFill>
              </a:rPr>
              <a:t> hakkında bilgiler</a:t>
            </a:r>
            <a:endParaRPr lang="tr-TR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397746A-5BA5-86C6-1820-E9FCBBDDD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tr-TR" sz="2800" dirty="0" err="1"/>
              <a:t>Get</a:t>
            </a:r>
            <a:r>
              <a:rPr lang="tr-TR" sz="2800" dirty="0"/>
              <a:t> </a:t>
            </a:r>
            <a:r>
              <a:rPr lang="tr-TR" sz="2800" dirty="0" err="1"/>
              <a:t>apisini</a:t>
            </a:r>
            <a:r>
              <a:rPr lang="tr-TR" sz="2800" dirty="0"/>
              <a:t> kullanarak veri tabanında bütün dersleri listeleyebiliriz .</a:t>
            </a:r>
          </a:p>
          <a:p>
            <a:endParaRPr lang="tr-TR" sz="2800" dirty="0"/>
          </a:p>
          <a:p>
            <a:r>
              <a:rPr lang="tr-TR" sz="2800" dirty="0"/>
              <a:t>Eğer bir buton ekleyip dersleri listelemek istersek bu </a:t>
            </a:r>
            <a:r>
              <a:rPr lang="tr-TR" sz="2800" dirty="0" err="1"/>
              <a:t>api</a:t>
            </a:r>
            <a:r>
              <a:rPr lang="tr-TR" sz="2800" dirty="0"/>
              <a:t> aracılığıyla veri tabanına erişebiliriz .</a:t>
            </a:r>
          </a:p>
          <a:p>
            <a:r>
              <a:rPr lang="tr-TR" dirty="0"/>
              <a:t>Örneğin öğrenci ekranında derslerim butonuna tıklandığında bu </a:t>
            </a:r>
            <a:r>
              <a:rPr lang="tr-TR" dirty="0" err="1"/>
              <a:t>api</a:t>
            </a:r>
            <a:r>
              <a:rPr lang="tr-TR" dirty="0"/>
              <a:t> çalışır</a:t>
            </a:r>
            <a:endParaRPr lang="tr-TR" sz="28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175782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16A4D1B-DC36-47DB-BD3C-B3781D396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–Course-Post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E0D77C34-D294-0084-0A6E-06CBB04B7F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86706"/>
            <a:ext cx="12192000" cy="4021614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F3A77DD3-9400-7DF7-B358-F1EC9EAB6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48934"/>
            <a:ext cx="12191996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2018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E0CC57C-FB12-BDB0-C68F-A14671557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 sz="4400" dirty="0">
                <a:solidFill>
                  <a:srgbClr val="FFFFFF"/>
                </a:solidFill>
              </a:rPr>
              <a:t>Course sınıfı için POST </a:t>
            </a:r>
            <a:r>
              <a:rPr lang="tr-TR" sz="4400" dirty="0" err="1">
                <a:solidFill>
                  <a:srgbClr val="FFFFFF"/>
                </a:solidFill>
              </a:rPr>
              <a:t>apisi</a:t>
            </a:r>
            <a:r>
              <a:rPr lang="tr-TR" sz="4400" dirty="0">
                <a:solidFill>
                  <a:srgbClr val="FFFFFF"/>
                </a:solidFill>
              </a:rPr>
              <a:t> hakkında bilgiler</a:t>
            </a:r>
            <a:endParaRPr lang="tr-TR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D6ECD55-43B7-EAAD-901D-26D4A5867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tr-TR" sz="2800" dirty="0"/>
              <a:t>Post metodu ile de </a:t>
            </a:r>
            <a:r>
              <a:rPr lang="tr-TR" sz="2800" dirty="0" err="1"/>
              <a:t>backend</a:t>
            </a:r>
            <a:r>
              <a:rPr lang="tr-TR" sz="2800" dirty="0"/>
              <a:t> aracılığıyla </a:t>
            </a:r>
            <a:r>
              <a:rPr lang="tr-TR" sz="2800" dirty="0" err="1"/>
              <a:t>api</a:t>
            </a:r>
            <a:r>
              <a:rPr lang="tr-TR" sz="2800" dirty="0"/>
              <a:t> kullanarak </a:t>
            </a:r>
            <a:r>
              <a:rPr lang="tr-TR" sz="2800" dirty="0" err="1"/>
              <a:t>veritabanına</a:t>
            </a:r>
            <a:r>
              <a:rPr lang="tr-TR" sz="2800" dirty="0"/>
              <a:t> ve sisteme ders ekliyoruz.</a:t>
            </a:r>
          </a:p>
          <a:p>
            <a:endParaRPr lang="tr-TR" sz="2800" dirty="0"/>
          </a:p>
          <a:p>
            <a:r>
              <a:rPr lang="tr-TR" sz="2800" dirty="0"/>
              <a:t>Akademisyen sayfasında  ‘Ders Ekle’ butonu eklenirse POST </a:t>
            </a:r>
            <a:r>
              <a:rPr lang="tr-TR" sz="2800" dirty="0" err="1"/>
              <a:t>apisi</a:t>
            </a:r>
            <a:r>
              <a:rPr lang="tr-TR" sz="2800" dirty="0"/>
              <a:t> aracılığıyla ders ekleyebiliriz bir önceki sayfadaki örnekte olduğu gibi .</a:t>
            </a:r>
          </a:p>
          <a:p>
            <a:endParaRPr lang="tr-TR" sz="2000" dirty="0"/>
          </a:p>
          <a:p>
            <a:endParaRPr lang="tr-TR" sz="20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699469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F1501DDB-46D7-2DF9-0C72-2859317C1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–Course-Put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DC42E63C-3ABF-64FE-FAFE-D69B0EFC8A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" y="1462385"/>
            <a:ext cx="12192007" cy="3684588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F1D4D923-C153-24D3-203E-1D442DB7D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02852"/>
            <a:ext cx="12191996" cy="165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6023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7E1BEA3-E853-7049-B853-A95C0494D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 sz="4400" dirty="0">
                <a:solidFill>
                  <a:srgbClr val="FFFFFF"/>
                </a:solidFill>
              </a:rPr>
              <a:t>Course sınıfı için PUT </a:t>
            </a:r>
            <a:r>
              <a:rPr lang="tr-TR" sz="4400" dirty="0" err="1">
                <a:solidFill>
                  <a:srgbClr val="FFFFFF"/>
                </a:solidFill>
              </a:rPr>
              <a:t>apisi</a:t>
            </a:r>
            <a:r>
              <a:rPr lang="tr-TR" sz="4400" dirty="0">
                <a:solidFill>
                  <a:srgbClr val="FFFFFF"/>
                </a:solidFill>
              </a:rPr>
              <a:t> hakkında bilgiler</a:t>
            </a:r>
            <a:endParaRPr lang="tr-TR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42A5BD9-7DF7-7DDD-2D91-727B8EFB9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tr-TR" sz="2800" dirty="0"/>
              <a:t>Put metodu ile de </a:t>
            </a:r>
            <a:r>
              <a:rPr lang="tr-TR" sz="2800" dirty="0" err="1"/>
              <a:t>backend</a:t>
            </a:r>
            <a:r>
              <a:rPr lang="tr-TR" sz="2800" dirty="0"/>
              <a:t> aracılığıyla </a:t>
            </a:r>
            <a:r>
              <a:rPr lang="tr-TR" sz="2800" dirty="0" err="1"/>
              <a:t>api</a:t>
            </a:r>
            <a:r>
              <a:rPr lang="tr-TR" sz="2800" dirty="0"/>
              <a:t> kullanarak </a:t>
            </a:r>
            <a:r>
              <a:rPr lang="tr-TR" sz="2800" dirty="0" err="1"/>
              <a:t>veritabanına</a:t>
            </a:r>
            <a:r>
              <a:rPr lang="tr-TR" sz="2800" dirty="0"/>
              <a:t> ve sistemdeki bir dersin bilgilerini </a:t>
            </a:r>
            <a:r>
              <a:rPr lang="tr-TR" sz="2800" dirty="0" err="1"/>
              <a:t>degiştiriyoruz</a:t>
            </a:r>
            <a:r>
              <a:rPr lang="tr-TR" sz="2800" dirty="0"/>
              <a:t>.</a:t>
            </a:r>
          </a:p>
          <a:p>
            <a:r>
              <a:rPr lang="tr-TR" sz="2800" dirty="0"/>
              <a:t>Akademisyen sayfasında  ‘Ders Bilgilerini Güncelle’ butonu eklenirse PUT </a:t>
            </a:r>
            <a:r>
              <a:rPr lang="tr-TR" sz="2800" dirty="0" err="1"/>
              <a:t>apisi</a:t>
            </a:r>
            <a:r>
              <a:rPr lang="tr-TR" sz="2800" dirty="0"/>
              <a:t> aracılığıyla ders bilgilerini güncelleyebiliriz bir önceki sayfadaki örnekte olduğu gibi .</a:t>
            </a:r>
          </a:p>
          <a:p>
            <a:endParaRPr lang="tr-TR" sz="2000" dirty="0"/>
          </a:p>
          <a:p>
            <a:endParaRPr lang="tr-TR" sz="20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928733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DA0F081-7CD7-2B5A-8C0F-DE8BF6490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–Course-</a:t>
            </a:r>
            <a:r>
              <a:rPr lang="tr-TR" sz="4000" dirty="0" err="1">
                <a:solidFill>
                  <a:srgbClr val="FFFFFF"/>
                </a:solidFill>
              </a:rPr>
              <a:t>Delete</a:t>
            </a:r>
            <a:endParaRPr lang="tr-TR" sz="4000" dirty="0">
              <a:solidFill>
                <a:srgbClr val="FFFFFF"/>
              </a:solidFill>
            </a:endParaRP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820FE2CE-65C7-8C65-83D8-E0E780AFDD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86706"/>
            <a:ext cx="12192000" cy="3684588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488A805C-B19C-EF0D-A039-EE2733871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" y="5271294"/>
            <a:ext cx="12192003" cy="158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4812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7D8B980-2BEC-391B-A4A6-3FB9EB243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 sz="4400" dirty="0">
                <a:solidFill>
                  <a:srgbClr val="FFFFFF"/>
                </a:solidFill>
              </a:rPr>
              <a:t>Course sınıfı için DELETE </a:t>
            </a:r>
            <a:r>
              <a:rPr lang="tr-TR" sz="4400" dirty="0" err="1">
                <a:solidFill>
                  <a:srgbClr val="FFFFFF"/>
                </a:solidFill>
              </a:rPr>
              <a:t>apisi</a:t>
            </a:r>
            <a:r>
              <a:rPr lang="tr-TR" sz="4400" dirty="0">
                <a:solidFill>
                  <a:srgbClr val="FFFFFF"/>
                </a:solidFill>
              </a:rPr>
              <a:t> hakkında bilgiler</a:t>
            </a:r>
            <a:endParaRPr lang="tr-TR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33E5DBD-1829-E454-FA69-7E7A6E5FD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tr-TR" dirty="0" err="1"/>
              <a:t>Delete</a:t>
            </a:r>
            <a:r>
              <a:rPr lang="tr-TR" dirty="0"/>
              <a:t> metodu ile de </a:t>
            </a:r>
            <a:r>
              <a:rPr lang="tr-TR" dirty="0" err="1"/>
              <a:t>backend</a:t>
            </a:r>
            <a:r>
              <a:rPr lang="tr-TR" dirty="0"/>
              <a:t> aracılığıyla </a:t>
            </a:r>
            <a:r>
              <a:rPr lang="tr-TR" dirty="0" err="1"/>
              <a:t>delete</a:t>
            </a:r>
            <a:r>
              <a:rPr lang="tr-TR" dirty="0"/>
              <a:t> </a:t>
            </a:r>
            <a:r>
              <a:rPr lang="tr-TR" dirty="0" err="1"/>
              <a:t>apisi</a:t>
            </a:r>
            <a:r>
              <a:rPr lang="tr-TR" dirty="0"/>
              <a:t> kullanarak </a:t>
            </a:r>
            <a:r>
              <a:rPr lang="tr-TR" dirty="0" err="1"/>
              <a:t>veritabanına</a:t>
            </a:r>
            <a:r>
              <a:rPr lang="tr-TR" dirty="0"/>
              <a:t> ve sistemdeki bir dersin bilgilerini siliyoruz.</a:t>
            </a:r>
          </a:p>
          <a:p>
            <a:endParaRPr lang="tr-TR" dirty="0"/>
          </a:p>
          <a:p>
            <a:r>
              <a:rPr lang="tr-TR" dirty="0"/>
              <a:t>Akademisyen sayfasında ‘Dersi Sil’ butonu eklenirse DELETE </a:t>
            </a:r>
            <a:r>
              <a:rPr lang="tr-TR" dirty="0" err="1"/>
              <a:t>apisi</a:t>
            </a:r>
            <a:r>
              <a:rPr lang="tr-TR" dirty="0"/>
              <a:t> aracılığıyla id ile ders bilgilerini silebiliriz    bir önceki sayfadaki örnekte olduğu gibi .</a:t>
            </a:r>
          </a:p>
          <a:p>
            <a:endParaRPr lang="tr-TR" sz="22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432825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49341BF-81B8-5FCB-EA87-6DB44D9A1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–User-</a:t>
            </a:r>
            <a:r>
              <a:rPr lang="tr-TR" sz="4000" dirty="0" err="1">
                <a:solidFill>
                  <a:srgbClr val="FFFFFF"/>
                </a:solidFill>
              </a:rPr>
              <a:t>Get</a:t>
            </a:r>
            <a:endParaRPr lang="tr-TR" sz="4000" dirty="0">
              <a:solidFill>
                <a:srgbClr val="FFFFFF"/>
              </a:solidFill>
            </a:endParaRP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D36FF59C-D6C0-6E48-E69B-EBD036FFB1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86706"/>
            <a:ext cx="12192000" cy="3684588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C96F7D06-0A5F-DD2D-338A-743D90B24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" y="5271293"/>
            <a:ext cx="11816083" cy="159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8564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B5ED19C-FD68-FC03-1A09-BF4332A16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 fontScale="90000"/>
          </a:bodyPr>
          <a:lstStyle/>
          <a:p>
            <a:r>
              <a:rPr lang="tr-TR" sz="5400" dirty="0">
                <a:solidFill>
                  <a:srgbClr val="FFFFFF"/>
                </a:solidFill>
              </a:rPr>
              <a:t>User sınıfı için </a:t>
            </a:r>
            <a:r>
              <a:rPr lang="tr-TR" sz="5400" dirty="0" err="1">
                <a:solidFill>
                  <a:srgbClr val="FFFFFF"/>
                </a:solidFill>
              </a:rPr>
              <a:t>Get</a:t>
            </a:r>
            <a:r>
              <a:rPr lang="tr-TR" sz="5400" dirty="0">
                <a:solidFill>
                  <a:srgbClr val="FFFFFF"/>
                </a:solidFill>
              </a:rPr>
              <a:t>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7ACB714-3DDB-AF28-D36F-12AE06725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sz="2400" dirty="0" err="1"/>
              <a:t>Get</a:t>
            </a:r>
            <a:r>
              <a:rPr lang="tr-TR" sz="2400" dirty="0"/>
              <a:t> </a:t>
            </a:r>
            <a:r>
              <a:rPr lang="tr-TR" sz="2400" dirty="0" err="1"/>
              <a:t>apisini</a:t>
            </a:r>
            <a:r>
              <a:rPr lang="tr-TR" sz="2400" dirty="0"/>
              <a:t> kullanarak veri tabanında bütün kullanıcıları listeleyebiliriz .</a:t>
            </a:r>
          </a:p>
          <a:p>
            <a:endParaRPr lang="tr-TR" sz="2400" dirty="0"/>
          </a:p>
          <a:p>
            <a:r>
              <a:rPr lang="tr-TR" sz="2400" dirty="0"/>
              <a:t>Eğer bir buton ekleyip kullanıcıları listelemek istersek bu </a:t>
            </a:r>
            <a:r>
              <a:rPr lang="tr-TR" sz="2400" dirty="0" err="1"/>
              <a:t>api</a:t>
            </a:r>
            <a:r>
              <a:rPr lang="tr-TR" sz="2400" dirty="0"/>
              <a:t> aracılığıyla veri tabanına erişebiliriz .</a:t>
            </a:r>
          </a:p>
          <a:p>
            <a:r>
              <a:rPr lang="tr-TR" sz="2400" dirty="0"/>
              <a:t>Örneğin admin ekranında ‘kullanıcılar ’butonuna tıklandığında bu </a:t>
            </a:r>
            <a:r>
              <a:rPr lang="tr-TR" sz="2400" dirty="0" err="1"/>
              <a:t>api</a:t>
            </a:r>
            <a:r>
              <a:rPr lang="tr-TR" sz="2400" dirty="0"/>
              <a:t> çalışır.</a:t>
            </a:r>
          </a:p>
          <a:p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10568716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D659DE6-B115-011F-28EA-1B281F7BF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–User-Post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291C91EE-3D76-F3C1-C5F9-01D185AE3D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86706"/>
            <a:ext cx="12191996" cy="3684588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723BE82F-248C-214F-D7EC-286EC7F34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4" y="5312067"/>
            <a:ext cx="12191996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7088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BA5A8BE-31AD-AFBA-2A7D-DDCF287E8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 fontScale="90000"/>
          </a:bodyPr>
          <a:lstStyle/>
          <a:p>
            <a:r>
              <a:rPr lang="tr-TR" sz="5400" dirty="0">
                <a:solidFill>
                  <a:srgbClr val="FFFFFF"/>
                </a:solidFill>
              </a:rPr>
              <a:t>User sınıfı için Post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AD02692-29FE-55E2-1A2F-EE6D06504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sz="2400" dirty="0"/>
              <a:t>Post metodu ile de </a:t>
            </a:r>
            <a:r>
              <a:rPr lang="tr-TR" sz="2400" dirty="0" err="1"/>
              <a:t>backend</a:t>
            </a:r>
            <a:r>
              <a:rPr lang="tr-TR" sz="2400" dirty="0"/>
              <a:t> aracılığıyla </a:t>
            </a:r>
            <a:r>
              <a:rPr lang="tr-TR" sz="2400" dirty="0" err="1"/>
              <a:t>api</a:t>
            </a:r>
            <a:r>
              <a:rPr lang="tr-TR" sz="2400" dirty="0"/>
              <a:t> kullanarak </a:t>
            </a:r>
            <a:r>
              <a:rPr lang="tr-TR" sz="2400" dirty="0" err="1"/>
              <a:t>veritabanına</a:t>
            </a:r>
            <a:r>
              <a:rPr lang="tr-TR" sz="2400" dirty="0"/>
              <a:t> ve sisteme kullanıcı ekliyoruz.</a:t>
            </a:r>
          </a:p>
          <a:p>
            <a:endParaRPr lang="tr-TR" sz="2400" dirty="0"/>
          </a:p>
          <a:p>
            <a:r>
              <a:rPr lang="tr-TR" sz="2400" dirty="0"/>
              <a:t>Admin sayfasında  ‘Kullanıcı Ekle’ butonu eklenirse POST </a:t>
            </a:r>
            <a:r>
              <a:rPr lang="tr-TR" sz="2400" dirty="0" err="1"/>
              <a:t>apisi</a:t>
            </a:r>
            <a:r>
              <a:rPr lang="tr-TR" sz="2400" dirty="0"/>
              <a:t> aracılığıyla kullanıcı ekleyebiliriz bir önceki sayfadaki örnekte olduğu gibi .</a:t>
            </a:r>
          </a:p>
          <a:p>
            <a:endParaRPr lang="tr-TR" sz="1800" dirty="0"/>
          </a:p>
          <a:p>
            <a:endParaRPr lang="tr-TR" sz="1800" dirty="0"/>
          </a:p>
          <a:p>
            <a:endParaRPr lang="tr-TR" sz="2400" dirty="0"/>
          </a:p>
          <a:p>
            <a:endParaRPr lang="tr-TR" sz="2200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19E361EE-175D-F93B-5636-75DB1CFA7B1A}"/>
              </a:ext>
            </a:extLst>
          </p:cNvPr>
          <p:cNvSpPr txBox="1"/>
          <p:nvPr/>
        </p:nvSpPr>
        <p:spPr>
          <a:xfrm>
            <a:off x="3047238" y="2197894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tr-TR" sz="14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314081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22DEF1B-342C-4E55-37D2-3D8FA6703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–User-Put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E619CEE-BE6D-1AFE-3801-56B3A2368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endParaRPr lang="tr-TR" sz="200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01F7B7F6-E974-02E1-30D2-C5FC1A766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" y="1597432"/>
            <a:ext cx="12191998" cy="4132808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1B2A0AEB-7A2C-E605-1B6C-ECA1AB4B3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" y="5760370"/>
            <a:ext cx="12049766" cy="109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9934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B48E6DC-B0D9-4123-27AF-68C392A9C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 fontScale="90000"/>
          </a:bodyPr>
          <a:lstStyle/>
          <a:p>
            <a:r>
              <a:rPr lang="tr-TR" sz="5400" dirty="0">
                <a:solidFill>
                  <a:srgbClr val="FFFFFF"/>
                </a:solidFill>
              </a:rPr>
              <a:t>User sınıfı için Put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AAB1A68-2ED2-93BA-2310-EA683FCEC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sz="2400" dirty="0"/>
              <a:t>Put metodu ile de </a:t>
            </a:r>
            <a:r>
              <a:rPr lang="tr-TR" sz="2400" dirty="0" err="1"/>
              <a:t>backend</a:t>
            </a:r>
            <a:r>
              <a:rPr lang="tr-TR" sz="2400" dirty="0"/>
              <a:t> aracılığıyla </a:t>
            </a:r>
            <a:r>
              <a:rPr lang="tr-TR" sz="2400" dirty="0" err="1"/>
              <a:t>api</a:t>
            </a:r>
            <a:r>
              <a:rPr lang="tr-TR" sz="2400" dirty="0"/>
              <a:t> kullanarak </a:t>
            </a:r>
            <a:r>
              <a:rPr lang="tr-TR" sz="2400" dirty="0" err="1"/>
              <a:t>veritabanına</a:t>
            </a:r>
            <a:r>
              <a:rPr lang="tr-TR" sz="2400" dirty="0"/>
              <a:t> ve sistemdeki bir kullanıcının bilgilerini </a:t>
            </a:r>
            <a:r>
              <a:rPr lang="tr-TR" sz="2400" dirty="0" err="1"/>
              <a:t>degiştiriyoruz</a:t>
            </a:r>
            <a:r>
              <a:rPr lang="tr-TR" sz="2400" dirty="0"/>
              <a:t>.</a:t>
            </a:r>
          </a:p>
          <a:p>
            <a:r>
              <a:rPr lang="tr-TR" sz="2400" dirty="0"/>
              <a:t>Admin sayfasında  ‘Kullanıcı Bilgilerini Güncelle’ butonu eklenirse PUT </a:t>
            </a:r>
            <a:r>
              <a:rPr lang="tr-TR" sz="2400" dirty="0" err="1"/>
              <a:t>apisi</a:t>
            </a:r>
            <a:r>
              <a:rPr lang="tr-TR" sz="2400" dirty="0"/>
              <a:t> aracılığıyla kullanıcı bilgilerini güncelleyebiliriz bir önceki sayfadaki örnekte olduğu gibi .</a:t>
            </a:r>
          </a:p>
          <a:p>
            <a:endParaRPr lang="tr-TR" sz="1800" dirty="0"/>
          </a:p>
          <a:p>
            <a:endParaRPr lang="tr-TR" sz="1800" dirty="0"/>
          </a:p>
          <a:p>
            <a:endParaRPr lang="tr-TR" sz="2400" dirty="0"/>
          </a:p>
          <a:p>
            <a:endParaRPr lang="tr-TR" sz="2200" dirty="0"/>
          </a:p>
        </p:txBody>
      </p:sp>
    </p:spTree>
    <p:extLst>
      <p:ext uri="{BB962C8B-B14F-4D97-AF65-F5344CB8AC3E}">
        <p14:creationId xmlns:p14="http://schemas.microsoft.com/office/powerpoint/2010/main" val="40806664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242A234-79AC-0F06-9CBE-AE0864E37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–User-</a:t>
            </a:r>
            <a:r>
              <a:rPr lang="tr-TR" sz="4000" dirty="0" err="1">
                <a:solidFill>
                  <a:srgbClr val="FFFFFF"/>
                </a:solidFill>
              </a:rPr>
              <a:t>Delete</a:t>
            </a:r>
            <a:endParaRPr lang="tr-TR" sz="4000" dirty="0">
              <a:solidFill>
                <a:srgbClr val="FFFFFF"/>
              </a:solidFill>
            </a:endParaRP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36EC5FAC-B5F9-6CFF-600C-5D91FA00BD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90741"/>
            <a:ext cx="12192000" cy="3465779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2D1AD36E-510D-A5BA-4932-CEF8963D0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56520"/>
            <a:ext cx="12192000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9577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5B82842-99DC-059F-9792-6ACC51C96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 fontScale="90000"/>
          </a:bodyPr>
          <a:lstStyle/>
          <a:p>
            <a:pPr algn="ctr"/>
            <a:r>
              <a:rPr lang="tr-TR" sz="5400" dirty="0">
                <a:solidFill>
                  <a:srgbClr val="FFFFFF"/>
                </a:solidFill>
              </a:rPr>
              <a:t>User sınıfı için </a:t>
            </a:r>
            <a:r>
              <a:rPr lang="tr-TR" sz="5400" dirty="0" err="1">
                <a:solidFill>
                  <a:srgbClr val="FFFFFF"/>
                </a:solidFill>
              </a:rPr>
              <a:t>Delete</a:t>
            </a:r>
            <a:r>
              <a:rPr lang="tr-TR" sz="5400" dirty="0">
                <a:solidFill>
                  <a:srgbClr val="FFFFFF"/>
                </a:solidFill>
              </a:rPr>
              <a:t>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16B44CC-C21D-6479-B321-CEE331214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sz="2400" dirty="0" err="1"/>
              <a:t>Delete</a:t>
            </a:r>
            <a:r>
              <a:rPr lang="tr-TR" sz="2400" dirty="0"/>
              <a:t> metodu ile de </a:t>
            </a:r>
            <a:r>
              <a:rPr lang="tr-TR" sz="2400" dirty="0" err="1"/>
              <a:t>backend</a:t>
            </a:r>
            <a:r>
              <a:rPr lang="tr-TR" sz="2400" dirty="0"/>
              <a:t> aracılığıyla </a:t>
            </a:r>
            <a:r>
              <a:rPr lang="tr-TR" sz="2400" dirty="0" err="1"/>
              <a:t>delete</a:t>
            </a:r>
            <a:r>
              <a:rPr lang="tr-TR" sz="2400" dirty="0"/>
              <a:t> </a:t>
            </a:r>
            <a:r>
              <a:rPr lang="tr-TR" sz="2400" dirty="0" err="1"/>
              <a:t>apisi</a:t>
            </a:r>
            <a:r>
              <a:rPr lang="tr-TR" sz="2400" dirty="0"/>
              <a:t> kullanarak </a:t>
            </a:r>
            <a:r>
              <a:rPr lang="tr-TR" sz="2400" dirty="0" err="1"/>
              <a:t>veritabanına</a:t>
            </a:r>
            <a:r>
              <a:rPr lang="tr-TR" sz="2400" dirty="0"/>
              <a:t> ve sistemdeki bir kullanıcının bilgilerini siliyoruz.</a:t>
            </a:r>
          </a:p>
          <a:p>
            <a:endParaRPr lang="tr-TR" sz="2400" dirty="0"/>
          </a:p>
          <a:p>
            <a:r>
              <a:rPr lang="tr-TR" sz="2400" dirty="0"/>
              <a:t>Admin sayfasında ‘Kullanıcı Sil’ butonu eklenirse DELETE </a:t>
            </a:r>
            <a:r>
              <a:rPr lang="tr-TR" sz="2400" dirty="0" err="1"/>
              <a:t>apisi</a:t>
            </a:r>
            <a:r>
              <a:rPr lang="tr-TR" sz="2400" dirty="0"/>
              <a:t> aracılığıyla id ile Kullanıcı bilgilerini silebiliriz    bir önceki sayfadaki örnekte olduğu gibi .</a:t>
            </a:r>
          </a:p>
          <a:p>
            <a:endParaRPr lang="tr-TR" sz="2000" dirty="0"/>
          </a:p>
          <a:p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3752277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C093037F428EA0498F2A1A99A637E6FB" ma:contentTypeVersion="5" ma:contentTypeDescription="Yeni belge oluşturun." ma:contentTypeScope="" ma:versionID="74b4485989e77f8ef7357243d4c110a0">
  <xsd:schema xmlns:xsd="http://www.w3.org/2001/XMLSchema" xmlns:xs="http://www.w3.org/2001/XMLSchema" xmlns:p="http://schemas.microsoft.com/office/2006/metadata/properties" xmlns:ns3="0ac5c887-ea44-4551-8128-fe49322b2709" targetNamespace="http://schemas.microsoft.com/office/2006/metadata/properties" ma:root="true" ma:fieldsID="7db7a620de11706ae9b262be52d228cd" ns3:_="">
    <xsd:import namespace="0ac5c887-ea44-4551-8128-fe49322b270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c5c887-ea44-4551-8128-fe49322b27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7F635F1-4B6C-4ABF-9C80-9F722A1440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8110666-22ED-43A3-8FC7-EF82604E5B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c5c887-ea44-4551-8128-fe49322b27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8A1B471-7FF6-46C5-82CF-9D2D0E64D972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0ac5c887-ea44-4551-8128-fe49322b2709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</TotalTime>
  <Words>1074</Words>
  <Application>Microsoft Office PowerPoint</Application>
  <PresentationFormat>Geniş ekran</PresentationFormat>
  <Paragraphs>118</Paragraphs>
  <Slides>42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42</vt:i4>
      </vt:variant>
    </vt:vector>
  </HeadingPairs>
  <TitlesOfParts>
    <vt:vector size="47" baseType="lpstr">
      <vt:lpstr>Angsana New</vt:lpstr>
      <vt:lpstr>Aptos</vt:lpstr>
      <vt:lpstr>Aptos Display</vt:lpstr>
      <vt:lpstr>Arial</vt:lpstr>
      <vt:lpstr>Office Teması</vt:lpstr>
      <vt:lpstr>Öğrenci Akademisyen Yönetim Sistemi Sunumu </vt:lpstr>
      <vt:lpstr>PowerPoint Sunusu</vt:lpstr>
      <vt:lpstr>Varlıklar ve İlişkileri</vt:lpstr>
      <vt:lpstr>Varlıklar ve İlişkiler</vt:lpstr>
      <vt:lpstr>Fronted –Giriş Ekranı</vt:lpstr>
      <vt:lpstr>Giriş Ekranı Hakkında Bilgiler</vt:lpstr>
      <vt:lpstr>Fronted-Öğrenci Ekranı</vt:lpstr>
      <vt:lpstr>Ögrenci ekranı hakkında bilgiler</vt:lpstr>
      <vt:lpstr>Fronted-Akademisyen Ekranı</vt:lpstr>
      <vt:lpstr>Akademisyen ekranı hakkında bilgiler</vt:lpstr>
      <vt:lpstr>Api Testleri –Student sınıfı-Get </vt:lpstr>
      <vt:lpstr>Student sınıfı için GET apisi hakkında bilgiler</vt:lpstr>
      <vt:lpstr>Api Testleri –Student-Post</vt:lpstr>
      <vt:lpstr>Post apisi hakkında bilgiler</vt:lpstr>
      <vt:lpstr>Api Testleri –Student-Put</vt:lpstr>
      <vt:lpstr>Put apisi hakkında bilgiler</vt:lpstr>
      <vt:lpstr>Api Testleri –Student-Delete</vt:lpstr>
      <vt:lpstr>Delete apisi hakkında bilgiler</vt:lpstr>
      <vt:lpstr>Api Testleri –Academician-Get</vt:lpstr>
      <vt:lpstr>Academician sınıfı için GET apisi hakkında bilgiler</vt:lpstr>
      <vt:lpstr>Api Testleri –Academician-Post</vt:lpstr>
      <vt:lpstr>Post apisi hakkında bilgiler</vt:lpstr>
      <vt:lpstr>Api Testleri –Academician-Put</vt:lpstr>
      <vt:lpstr>Put apisi hakkında bilgiler</vt:lpstr>
      <vt:lpstr>Api Testleri –Academician-Delete</vt:lpstr>
      <vt:lpstr>Delete apisi hakkında bilgiler</vt:lpstr>
      <vt:lpstr>Api Testleri –Course-Get</vt:lpstr>
      <vt:lpstr>Course sınıfı için GET apisi hakkında bilgiler</vt:lpstr>
      <vt:lpstr>Api Testleri –Course-Post</vt:lpstr>
      <vt:lpstr>Course sınıfı için POST apisi hakkında bilgiler</vt:lpstr>
      <vt:lpstr>Api Testleri –Course-Put</vt:lpstr>
      <vt:lpstr>Course sınıfı için PUT apisi hakkında bilgiler</vt:lpstr>
      <vt:lpstr>Api Testleri –Course-Delete</vt:lpstr>
      <vt:lpstr>Course sınıfı için DELETE apisi hakkında bilgiler</vt:lpstr>
      <vt:lpstr>Api Testleri –User-Get</vt:lpstr>
      <vt:lpstr>User sınıfı için Get apisi hakkında bilgiler</vt:lpstr>
      <vt:lpstr>Api Testleri –User-Post</vt:lpstr>
      <vt:lpstr>User sınıfı için Post apisi hakkında bilgiler</vt:lpstr>
      <vt:lpstr>Api Testleri –User-Put</vt:lpstr>
      <vt:lpstr>User sınıfı için Put apisi hakkında bilgiler</vt:lpstr>
      <vt:lpstr>Api Testleri –User-Delete</vt:lpstr>
      <vt:lpstr>User sınıfı için Delete apisi hakkında bilgiler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MAHMUT AYDINALP</dc:creator>
  <cp:lastModifiedBy>MAHMUT AYDINALP</cp:lastModifiedBy>
  <cp:revision>4</cp:revision>
  <dcterms:created xsi:type="dcterms:W3CDTF">2024-12-22T17:43:54Z</dcterms:created>
  <dcterms:modified xsi:type="dcterms:W3CDTF">2024-12-23T20:04:02Z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0x010100C093037F428EA0498F2A1A99A637E6FB</vt:lpwstr>
  </property>
</Properties>
</file>